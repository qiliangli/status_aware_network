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FD6C9"/>
                </a:solidFill>
              </a:rPr>
              <a:t>共享 KV 调度研究 · 形式化分析摘要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DF2F7"/>
                </a:solidFill>
              </a:rPr>
              <a:t>① 统一队列下的批组队与错峰调度：形式化模型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</a:rPr>
              <a:t>《共享 KV 统一队列下的 Batch 效率与错峰调度形式化分析》2026-09-13 · §2 / §4–§7 · 单位：秒、GB、GB/s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FD6C9"/>
                </a:solidFill>
              </a:rPr>
              <a:t>系统模型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82496"/>
            <a:ext cx="3931920" cy="512064"/>
          </a:xfrm>
          <a:prstGeom prst="roundRect">
            <a:avLst>
              <a:gd name="adj" fmla="val 9821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682496"/>
            <a:ext cx="3675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请求到达 i：</a:t>
            </a:r>
            <a:r>
              <a:rPr lang="en-US" sz="11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1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1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1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1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命中 · </a:t>
            </a:r>
            <a:r>
              <a:rPr lang="en-US" sz="11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1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新算 · SLO </a:t>
            </a:r>
            <a:r>
              <a:rPr lang="en-US" sz="11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n-US" sz="11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23160" y="2221992"/>
            <a:ext cx="0" cy="182880"/>
          </a:xfrm>
          <a:prstGeom prst="line">
            <a:avLst/>
          </a:prstGeom>
          <a:noFill/>
          <a:ln w="17780">
            <a:solidFill>
              <a:srgbClr val="A8BACC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2432304"/>
            <a:ext cx="3931920" cy="512064"/>
          </a:xfrm>
          <a:prstGeom prst="roundRect">
            <a:avLst>
              <a:gd name="adj" fmla="val 9821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" y="2432304"/>
            <a:ext cx="3675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中央等待队列 </a:t>
            </a:r>
            <a:r>
              <a:rPr lang="en-US" sz="11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1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(t)</a:t>
            </a: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｜ 唯一；执行时才绑定实例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423160" y="2971800"/>
            <a:ext cx="0" cy="182880"/>
          </a:xfrm>
          <a:prstGeom prst="line">
            <a:avLst/>
          </a:prstGeom>
          <a:noFill/>
          <a:ln w="17780">
            <a:solidFill>
              <a:srgbClr val="A8BACC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7200" y="3182112"/>
            <a:ext cx="3931920" cy="512064"/>
          </a:xfrm>
          <a:prstGeom prst="roundRect">
            <a:avLst>
              <a:gd name="adj" fmla="val 9821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3182112"/>
            <a:ext cx="3675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调度器 σ = (P, w, u)：批成员 · 实例 · 启动时刻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3721608"/>
            <a:ext cx="0" cy="182880"/>
          </a:xfrm>
          <a:prstGeom prst="line">
            <a:avLst/>
          </a:prstGeom>
          <a:noFill/>
          <a:ln w="17780">
            <a:solidFill>
              <a:srgbClr val="A8BACC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931920"/>
            <a:ext cx="3931920" cy="512064"/>
          </a:xfrm>
          <a:prstGeom prst="roundRect">
            <a:avLst>
              <a:gd name="adj" fmla="val 9821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931920"/>
            <a:ext cx="3675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实例 ×m：读第 ℓ 层 → 算第 ℓ 层（同时预取 ℓ+1）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423160" y="4471416"/>
            <a:ext cx="0" cy="182880"/>
          </a:xfrm>
          <a:prstGeom prst="line">
            <a:avLst/>
          </a:prstGeom>
          <a:noFill/>
          <a:ln w="17780">
            <a:solidFill>
              <a:srgbClr val="A8BACC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57200" y="4681728"/>
            <a:ext cx="3931920" cy="512064"/>
          </a:xfrm>
          <a:prstGeom prst="roundRect">
            <a:avLst>
              <a:gd name="adj" fmla="val 9821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" y="4681728"/>
            <a:ext cx="3675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共享存储 </a:t>
            </a:r>
            <a:r>
              <a:rPr lang="en-US" sz="11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1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(t)</a:t>
            </a: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：FCFS 按申请速率分配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5221224"/>
            <a:ext cx="0" cy="182880"/>
          </a:xfrm>
          <a:prstGeom prst="line">
            <a:avLst/>
          </a:prstGeom>
          <a:noFill/>
          <a:ln w="17780">
            <a:solidFill>
              <a:srgbClr val="A8BACC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57200" y="5431536"/>
            <a:ext cx="3931920" cy="512064"/>
          </a:xfrm>
          <a:prstGeom prst="roundRect">
            <a:avLst>
              <a:gd name="adj" fmla="val 9821"/>
            </a:avLst>
          </a:prstGeom>
          <a:solidFill>
            <a:srgbClr val="1E3A54"/>
          </a:solidFill>
          <a:ln w="12700">
            <a:solidFill>
              <a:srgbClr val="E89B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5431536"/>
            <a:ext cx="367588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末层整批完成 → 首 token  </a:t>
            </a:r>
            <a:r>
              <a:rPr lang="en-US" sz="11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1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1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1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1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β,L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1353312"/>
            <a:ext cx="7068312" cy="1371600"/>
          </a:xfrm>
          <a:prstGeom prst="roundRect">
            <a:avLst>
              <a:gd name="adj" fmla="val 3667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463040"/>
            <a:ext cx="670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D6C9"/>
                </a:solidFill>
              </a:rPr>
              <a:t>存储纪律 ｜ FCFS 按需分配（式 1）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846320" y="1737360"/>
            <a:ext cx="6702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(t) = min{ </a:t>
            </a: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(t), [ </a:t>
            </a: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(t) − Σ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h&lt;j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(t) ]</a:t>
            </a:r>
            <a:r>
              <a:rPr lang="en-US" sz="1400" i="1" baseline="3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}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工作守恒 </a:t>
            </a:r>
            <a:r>
              <a:rPr lang="en-US" sz="105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 </a:t>
            </a:r>
            <a:r>
              <a:rPr lang="en-US" sz="1050" i="1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050" i="1" baseline="-4000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05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min( </a:t>
            </a:r>
            <a:r>
              <a:rPr lang="en-US" sz="1050" i="1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05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Σ </a:t>
            </a:r>
            <a:r>
              <a:rPr lang="en-US" sz="1050" i="1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050" i="1" baseline="-4000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05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2121408"/>
            <a:ext cx="67025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</a:rPr>
              <a:t>先满足在先流的申请速率，剩余带宽顺延给后续流——非公平共享；申请率 q 由统一引擎协议生成，不是优化变量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63440" y="2852928"/>
            <a:ext cx="7068312" cy="1627632"/>
          </a:xfrm>
          <a:prstGeom prst="roundRect">
            <a:avLst>
              <a:gd name="adj" fmla="val 3090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962656"/>
            <a:ext cx="670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D6C9"/>
                </a:solidFill>
              </a:rPr>
              <a:t>逐层执行递推（式 3–6）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846320" y="3236976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β,1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；　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β,ℓ+1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（计算开始即提交下层读取）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46320" y="3547872"/>
            <a:ext cx="6702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max( 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β,ℓ−1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 ；　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；　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3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3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3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β,L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858768"/>
            <a:ext cx="67025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同实例活动区间互斥（含读取等待）：</a:t>
            </a:r>
            <a:r>
              <a:rPr lang="en-US" sz="105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</a:t>
            </a:r>
            <a:r>
              <a:rPr lang="en-US" sz="1050" i="1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050" i="1" baseline="-4000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</a:t>
            </a:r>
            <a:r>
              <a:rPr lang="en-US" sz="105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r>
              <a:rPr lang="en-US" sz="1050" i="1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050" i="1" baseline="-4000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β,L</a:t>
            </a:r>
            <a:r>
              <a:rPr lang="en-US" sz="105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∩ [</a:t>
            </a:r>
            <a:r>
              <a:rPr lang="en-US" sz="1050" i="1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050" i="1" baseline="-4000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γ</a:t>
            </a:r>
            <a:r>
              <a:rPr lang="en-US" sz="105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r>
              <a:rPr lang="en-US" sz="1050" i="1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050" i="1" baseline="-4000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γ,L</a:t>
            </a:r>
            <a:r>
              <a:rPr lang="en-US" sz="1050" dirty="0">
                <a:solidFill>
                  <a:srgbClr val="A8BAC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= ∅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——只禁计算重叠不够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4608576"/>
            <a:ext cx="7068312" cy="1426464"/>
          </a:xfrm>
          <a:prstGeom prst="roundRect">
            <a:avLst>
              <a:gd name="adj" fmla="val 3526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4718304"/>
            <a:ext cx="670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D6C9"/>
                </a:solidFill>
              </a:rPr>
              <a:t>TTFT 三段分解（式 7）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46320" y="4992624"/>
            <a:ext cx="6702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 </a:t>
            </a: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 + </a:t>
            </a: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</a:t>
            </a:r>
            <a:r>
              <a:rPr lang="en-US" sz="14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r>
              <a:rPr lang="en-US" sz="140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r>
              <a:rPr lang="en-US" sz="140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</a:t>
            </a:r>
            <a:r>
              <a:rPr lang="en-US" sz="1100" dirty="0">
                <a:solidFill>
                  <a:srgbClr val="E89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＝ 中央等待 ＋ 整批同步计算 ＋ I/O STALL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846320" y="5376672"/>
            <a:ext cx="6702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8BACC"/>
                </a:solidFill>
              </a:rPr>
              <a:t>K 为整批同步计算时间，不可按成员数均摊；读取藏于计算窗口内不计 STALL——批计算收益与带宽需求此消彼长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57200" y="6163056"/>
            <a:ext cx="11274552" cy="512064"/>
          </a:xfrm>
          <a:prstGeom prst="roundRect">
            <a:avLst>
              <a:gd name="adj" fmla="val 9821"/>
            </a:avLst>
          </a:prstGeom>
          <a:solidFill>
            <a:srgbClr val="142437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6163056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FD6C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批工作量三元组（§2）：</a:t>
            </a:r>
            <a:r>
              <a:rPr lang="en-US" sz="10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0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</a:t>
            </a:r>
            <a:r>
              <a:rPr lang="en-US" sz="10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 </a:t>
            </a:r>
            <a:r>
              <a:rPr lang="en-US" sz="10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0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线性层 ｜ </a:t>
            </a:r>
            <a:r>
              <a:rPr lang="en-US" sz="10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0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</a:t>
            </a:r>
            <a:r>
              <a:rPr lang="en-US" sz="10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Σ [</a:t>
            </a:r>
            <a:r>
              <a:rPr lang="en-US" sz="10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0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0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r>
              <a:rPr lang="en-US" sz="10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0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0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0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+1)/2]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attention 配对 ｜ </a:t>
            </a:r>
            <a:r>
              <a:rPr lang="en-US" sz="10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0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KV 字节——批大小与总 token 均非单一维度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F766E"/>
                </a:solidFill>
              </a:rPr>
              <a:t>共享 KV 调度研究 · 形式化分析摘要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2F"/>
                </a:solidFill>
              </a:rPr>
              <a:t>② 一个模型 · 四个目标：复杂性与可解性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F80"/>
                </a:solidFill>
              </a:rPr>
              <a:t>《共享 KV 统一队列下的 Batch 效率与错峰调度形式化分析》§6–§11 · G1–G6 封闭问题 → NP-hard → 证书与在线算法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53312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四条独立优化线（G5）— 一般无共同最优解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682496"/>
            <a:ext cx="4709160" cy="749808"/>
          </a:xfrm>
          <a:prstGeom prst="roundRect">
            <a:avLst>
              <a:gd name="adj" fmla="val 6707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85216" y="1837944"/>
            <a:ext cx="603504" cy="438912"/>
          </a:xfrm>
          <a:prstGeom prst="roundRect">
            <a:avLst>
              <a:gd name="adj" fmla="val 11458"/>
            </a:avLst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837944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300" b="1" i="1" baseline="-4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35024" y="1792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　max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12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35024" y="20939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F80"/>
                </a:solidFill>
              </a:rPr>
              <a:t>最小全部完成时间 M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709160" cy="749808"/>
          </a:xfrm>
          <a:prstGeom prst="roundRect">
            <a:avLst>
              <a:gd name="adj" fmla="val 6707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5216" y="2715768"/>
            <a:ext cx="603504" cy="438912"/>
          </a:xfrm>
          <a:prstGeom prst="roundRect">
            <a:avLst>
              <a:gd name="adj" fmla="val 11458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" y="2715768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300" b="1" i="1" baseline="-4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35024" y="2670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 (1/n) Σ 1[</a:t>
            </a:r>
            <a:r>
              <a:rPr lang="en-US" sz="12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&gt; </a:t>
            </a:r>
            <a:r>
              <a:rPr lang="en-US" sz="12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335024" y="2971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F80"/>
                </a:solidFill>
              </a:rPr>
              <a:t>SLO 失败率（满足率 = 1 − J）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38144"/>
            <a:ext cx="4709160" cy="749808"/>
          </a:xfrm>
          <a:prstGeom prst="roundRect">
            <a:avLst>
              <a:gd name="adj" fmla="val 6707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" y="3593592"/>
            <a:ext cx="603504" cy="438912"/>
          </a:xfrm>
          <a:prstGeom prst="roundRect">
            <a:avLst>
              <a:gd name="adj" fmla="val 11458"/>
            </a:avLst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585216" y="3593592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300" b="1" i="1" baseline="-4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35024" y="3547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 (1/n) Σ ( </a:t>
            </a:r>
            <a:r>
              <a:rPr lang="en-US" sz="12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12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335024" y="384962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F80"/>
                </a:solidFill>
              </a:rPr>
              <a:t>平均 TTFT（含中央等待）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315968"/>
            <a:ext cx="4709160" cy="749808"/>
          </a:xfrm>
          <a:prstGeom prst="roundRect">
            <a:avLst>
              <a:gd name="adj" fmla="val 6707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85216" y="4471416"/>
            <a:ext cx="603504" cy="438912"/>
          </a:xfrm>
          <a:prstGeom prst="roundRect">
            <a:avLst>
              <a:gd name="adj" fmla="val 11458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" y="4471416"/>
            <a:ext cx="6035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300" b="1" i="1" baseline="-4000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35024" y="4425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 (1/n) Σ ( </a:t>
            </a:r>
            <a:r>
              <a:rPr lang="en-US" sz="12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r>
              <a:rPr lang="en-US" sz="12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 / </a:t>
            </a:r>
            <a:r>
              <a:rPr lang="en-US" sz="12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2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250" i="1" baseline="3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335024" y="47274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F80"/>
                </a:solidFill>
              </a:rPr>
              <a:t>平均归一化 TTFT（短请求权重更大）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394960" y="1353312"/>
            <a:ext cx="6336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逐目标 NP-hard：归约链（§9）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682496"/>
          <a:ext cx="6336792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913632"/>
                <a:gridCol w="16459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目标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归约构造（子问题：batch=1 · v=0 · L=1 · a=0）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复杂度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i="1" dirty="0">
                          <a:solidFill>
                            <a:srgbClr val="0F766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</a:t>
                      </a:r>
                      <a:r>
                        <a:rPr lang="en-US" sz="1050" b="1" i="1" baseline="-40000" dirty="0">
                          <a:solidFill>
                            <a:srgbClr val="0F766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3-PARTITION → m 台实例装盒：D/4 &lt; p &lt; D/2 且 Σp = mD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强 NP-hard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i="1" dirty="0">
                          <a:solidFill>
                            <a:srgbClr val="0F766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</a:t>
                      </a:r>
                      <a:r>
                        <a:rPr lang="en-US" sz="1050" b="1" i="1" baseline="-40000" dirty="0">
                          <a:solidFill>
                            <a:srgbClr val="0F766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同一构造，令 d ≡ D：满足率 100% ⇔ M ≤ 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强 NP-hard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i="1" dirty="0">
                          <a:solidFill>
                            <a:srgbClr val="0F766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</a:t>
                      </a:r>
                      <a:r>
                        <a:rPr lang="en-US" sz="1050" b="1" i="1" baseline="-40000" dirty="0">
                          <a:solidFill>
                            <a:srgbClr val="0F766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单机 · 释放时间 · 总流水时间 1|rᵢ|ΣCᵢ（Lenstra 1977）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强 NP-hard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i="1" dirty="0">
                          <a:solidFill>
                            <a:srgbClr val="0F766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J</a:t>
                      </a:r>
                      <a:r>
                        <a:rPr lang="en-US" sz="1050" b="1" i="1" baseline="-40000" dirty="0">
                          <a:solidFill>
                            <a:srgbClr val="0F766E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6232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单机 · 总 stretch 1|rᵢ|ΣSᵢ（Legrand · Su · Vivien 2008）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D9770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NP-hard</a:t>
                      </a:r>
                      <a:endParaRPr lang="en-US" sz="10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E2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ext 25"/>
          <p:cNvSpPr/>
          <p:nvPr/>
        </p:nvSpPr>
        <p:spPr>
          <a:xfrm>
            <a:off x="5394960" y="4480560"/>
            <a:ext cx="6336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D6F80"/>
                </a:solidFill>
              </a:rPr>
              <a:t>「关闭组批 / 读取 / 多层」的子问题已含经典难例 ⇒ 一般问题至少同样难；≠ 小规模不可精确求解，也不排除近似算法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457200" y="5138928"/>
            <a:ext cx="3630168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21792" y="5248656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离线 · 小规模精确（§10）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1792" y="5541264"/>
            <a:ext cx="3300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冻结候选批目录 + 启动网格 δ → 分支定界（必须含「再等一格」空动作）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证书 LB ≤ J* ≤ UB，gap = (UB−LB)/LB；LB = max(乐观最早完成 e，剩余字节/带宽，计算下界/m)——可重叠资源不相加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4279392" y="5138928"/>
            <a:ext cx="3630168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4443984" y="5248656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</a:rPr>
              <a:t>在线 · 滚动 MPC（§11）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443984" y="5541264"/>
            <a:ext cx="3300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事件触发 → 候选批（同类 / 读算互补 / 最老保护）→ 空闲实例联合动作 + 有界等待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同后续策略全局重放 → 按目标增量 Δ 排序 → 只落实首动作；Δ 须计入被波及的其他请求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101584" y="5138928"/>
            <a:ext cx="3630168" cy="1481328"/>
          </a:xfrm>
          <a:prstGeom prst="roundRect">
            <a:avLst>
              <a:gd name="adj" fmla="val 3395"/>
            </a:avLst>
          </a:prstGeom>
          <a:solidFill>
            <a:srgbClr val="FFFFFF"/>
          </a:solidFill>
          <a:ln w="12700">
            <a:solidFill>
              <a:srgbClr val="E5C58A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36" name="Text 33"/>
          <p:cNvSpPr/>
          <p:nvPr/>
        </p:nvSpPr>
        <p:spPr>
          <a:xfrm>
            <a:off x="8266176" y="5248656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</a:rPr>
              <a:t>反例警示（§8 · 四请求 P1–P4）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266176" y="5541264"/>
            <a:ext cx="330098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 最小的 P3：SLO 仅 50%（短请求全部超期）；主动等待的 P4：均值最优但 M 增大</a:t>
            </a:r>
            <a:endParaRPr lang="en-US" sz="10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不能按 STALL 最少 / 带宽最满 / 长短是否混批等单一局部指标选计划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F766E"/>
                </a:solidFill>
              </a:rPr>
              <a:t>共享 KV 调度研究 · 形式化分析摘要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6232F"/>
                </a:solidFill>
              </a:rPr>
              <a:t>③ 扩展：多 ASU · 多 Path 的联合决策空间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F80"/>
                </a:solidFill>
              </a:rPr>
              <a:t>《共享 KV 多 ASU 多 Path 下的组批错峰与带宽协同调度设计》2026-09-17 · §1 / §4–§6 · 相对 Case ① 的形式化增量的关键变化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3167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放置　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hashID 一致性哈希 → 唯一 ASU（数据不可迁移）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88536" y="13167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拓扑　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 盘 × 256 Path × 40 GB/s · 读写共池 · 队头 FIFO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119872" y="13167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　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χ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(1[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&gt;80K], 1[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&gt;512])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→ SS/LS/SL/LL · Path 组 96/96/32/32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06240" y="1371600"/>
            <a:ext cx="0" cy="365760"/>
          </a:xfrm>
          <a:prstGeom prst="line">
            <a:avLst/>
          </a:prstGeom>
          <a:noFill/>
          <a:ln w="9525">
            <a:solidFill>
              <a:srgbClr val="D9E2E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37576" y="1371600"/>
            <a:ext cx="0" cy="365760"/>
          </a:xfrm>
          <a:prstGeom prst="line">
            <a:avLst/>
          </a:prstGeom>
          <a:noFill/>
          <a:ln w="9525">
            <a:solidFill>
              <a:srgbClr val="D9E2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93392"/>
            <a:ext cx="6858000" cy="1572768"/>
          </a:xfrm>
          <a:prstGeom prst="roundRect">
            <a:avLst>
              <a:gd name="adj" fmla="val 3198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2121408"/>
            <a:ext cx="6492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F80"/>
                </a:solidFill>
              </a:rPr>
              <a:t>联合调度计划（式 9）—— 批 / 实例 / 时刻之外，新增「选路」与「带宽」两层决策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64922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σ</a:t>
            </a:r>
            <a:r>
              <a:rPr lang="en-US" sz="19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 </a:t>
            </a:r>
            <a:r>
              <a:rPr lang="en-US" sz="190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9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 { ( </a:t>
            </a:r>
            <a:r>
              <a:rPr lang="en-US" sz="190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r>
              <a:rPr lang="en-US" sz="190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</a:t>
            </a:r>
            <a:r>
              <a:rPr lang="en-US" sz="19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r>
              <a:rPr lang="en-US" sz="190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r>
              <a:rPr lang="en-US" sz="190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</a:t>
            </a:r>
            <a:r>
              <a:rPr lang="en-US" sz="19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 } ,  { </a:t>
            </a:r>
            <a:r>
              <a:rPr lang="en-US" sz="190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90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9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} ,  { </a:t>
            </a:r>
            <a:r>
              <a:rPr lang="en-US" sz="190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θ</a:t>
            </a:r>
            <a:r>
              <a:rPr lang="en-US" sz="190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n-US" sz="19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(t) } )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640080" y="305409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D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批划分</a:t>
            </a:r>
            <a:r>
              <a:rPr lang="en-US" sz="1050" dirty="0">
                <a:solidFill>
                  <a:srgbClr val="D9E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｜　</a:t>
            </a:r>
            <a:r>
              <a:rPr lang="en-US" sz="1050" b="1" dirty="0">
                <a:solidFill>
                  <a:srgbClr val="5D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实例 · 启动时刻</a:t>
            </a:r>
            <a:r>
              <a:rPr lang="en-US" sz="1050" dirty="0">
                <a:solidFill>
                  <a:srgbClr val="D9E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｜　</a:t>
            </a:r>
            <a:r>
              <a:rPr lang="en-US" sz="1050" b="1" dirty="0">
                <a:solidFill>
                  <a:srgbClr val="5D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 I/O 选路</a:t>
            </a:r>
            <a:r>
              <a:rPr lang="en-US" sz="1050" dirty="0">
                <a:solidFill>
                  <a:srgbClr val="D9E2E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｜　</a:t>
            </a:r>
            <a:r>
              <a:rPr lang="en-US" sz="1050" b="1" dirty="0">
                <a:solidFill>
                  <a:srgbClr val="5D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各盘带宽规则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589520" y="1993392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新增形式化对象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589520" y="2304288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F"/>
                </a:solidFill>
              </a:rPr>
              <a:t>需求张量（式 5）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2542032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050" i="1" baseline="3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R/W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βℓdc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（批×层×盘×类）读写分计——热点与多盘尾部进入决策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589520" y="3035808"/>
            <a:ext cx="4142232" cy="0"/>
          </a:xfrm>
          <a:prstGeom prst="line">
            <a:avLst/>
          </a:prstGeom>
          <a:noFill/>
          <a:ln w="12700">
            <a:solidFill>
              <a:srgbClr val="C4D1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0" y="3054096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F"/>
                </a:solidFill>
              </a:rPr>
              <a:t>I/O 守恒（式 10）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89520" y="3291840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/d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− 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d,p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；仅队头获服务，FIFO 不可越队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589520" y="3785616"/>
            <a:ext cx="4142232" cy="0"/>
          </a:xfrm>
          <a:prstGeom prst="line">
            <a:avLst/>
          </a:prstGeom>
          <a:noFill/>
          <a:ln w="12700">
            <a:solidFill>
              <a:srgbClr val="C4D1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3803904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F"/>
                </a:solidFill>
              </a:rPr>
              <a:t>层递推 + 写缓冲（式 11）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4041648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max( 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β,ℓ−1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βℓ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；E 为写暂存预留时刻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589520" y="4535424"/>
            <a:ext cx="4142232" cy="0"/>
          </a:xfrm>
          <a:prstGeom prst="line">
            <a:avLst/>
          </a:prstGeom>
          <a:noFill/>
          <a:ln w="12700">
            <a:solidFill>
              <a:srgbClr val="C4D1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4553712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F"/>
                </a:solidFill>
              </a:rPr>
              <a:t>设备四态守恒（式 12）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89520" y="4791456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 + S + O + I = mH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；O = 写背压 / 控制（相对 Case ① 的新增态）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589520" y="5285232"/>
            <a:ext cx="4142232" cy="0"/>
          </a:xfrm>
          <a:prstGeom prst="line">
            <a:avLst/>
          </a:prstGeom>
          <a:noFill/>
          <a:ln w="12700">
            <a:solidFill>
              <a:srgbClr val="C4D1D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5303520"/>
            <a:ext cx="4142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32F"/>
                </a:solidFill>
              </a:rPr>
              <a:t>窗口压力（式 15）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89520" y="5541264"/>
            <a:ext cx="41422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ρ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n-US" sz="105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(Δ) &gt; 1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⇒ 窗口必失守；总量条件 Σ </a:t>
            </a:r>
            <a:r>
              <a:rPr lang="en-US" sz="1050" i="1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050" i="1" baseline="-40000" dirty="0">
                <a:solidFill>
                  <a:srgbClr val="16232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≤ 40D(τ−s) 不充分——跨盘最大值才是下界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" y="376732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</a:rPr>
              <a:t>决策分层与固定约束（§6.1）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4096512"/>
            <a:ext cx="6858000" cy="4572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21792" y="409651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① </a:t>
            </a:r>
            <a:r>
              <a:rPr lang="en-US" sz="1200" b="1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中央调度 S　</a:t>
            </a:r>
            <a:r>
              <a:rPr lang="en-US" sz="1050" dirty="0">
                <a:solidFill>
                  <a:srgbClr val="5D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批成员 · 空闲实例 · 领取顺序 · 有限启动延迟（已活动批不拆不迁）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457200" y="4645152"/>
            <a:ext cx="6858000" cy="4572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21792" y="464515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② </a:t>
            </a:r>
            <a:r>
              <a:rPr lang="en-US" sz="1200" b="1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NPU 选路 P　</a:t>
            </a:r>
            <a:r>
              <a:rPr lang="en-US" sz="1050" dirty="0">
                <a:solidFill>
                  <a:srgbClr val="5D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新释放 I/O 在目标盘的本请求组内选 Path（不换盘、不重分类、不迁移既有 I/O）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7200" y="5193792"/>
            <a:ext cx="6858000" cy="4572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21792" y="519379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③ </a:t>
            </a:r>
            <a:r>
              <a:rPr lang="en-US" sz="1200" b="1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ASU 带宽 B　</a:t>
            </a:r>
            <a:r>
              <a:rPr lang="en-US" sz="1050" dirty="0">
                <a:solidFill>
                  <a:srgbClr val="5D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更新点改变组 / 请求权重与借用（每盘 ≤ 40，既有 FIFO 与端点上限不变）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457200" y="5742432"/>
            <a:ext cx="6858000" cy="457200"/>
          </a:xfrm>
          <a:prstGeom prst="roundRect">
            <a:avLst>
              <a:gd name="adj" fmla="val 11000"/>
            </a:avLst>
          </a:prstGeom>
          <a:solidFill>
            <a:srgbClr val="FFFFFF"/>
          </a:solidFill>
          <a:ln w="9525">
            <a:solidFill>
              <a:srgbClr val="D9E2E9"/>
            </a:solidFill>
            <a:prstDash val="solid"/>
          </a:ln>
          <a:effectLst>
            <a:outerShdw sx="100000" sy="100000" kx="0" ky="0" algn="bl" rotWithShape="0" blurRad="88900" dist="25400" dir="5400000">
              <a:srgbClr val="8AA0B4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" y="5742432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④ </a:t>
            </a:r>
            <a:r>
              <a:rPr lang="en-US" sz="1200" b="1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写回控制　</a:t>
            </a:r>
            <a:r>
              <a:rPr lang="en-US" sz="1050" dirty="0">
                <a:solidFill>
                  <a:srgbClr val="5D6F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 暂存池预留 / 释放；写与读共享 40 GB/s；F = 末层计算完成（异步写可延后）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457200" y="6236208"/>
            <a:ext cx="11274552" cy="475488"/>
          </a:xfrm>
          <a:prstGeom prst="roundRect">
            <a:avLst>
              <a:gd name="adj" fmla="val 10577"/>
            </a:avLst>
          </a:prstGeom>
          <a:solidFill>
            <a:srgbClr val="ECF3F2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6236208"/>
            <a:ext cx="109087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关键变化：</a:t>
            </a:r>
            <a:r>
              <a:rPr lang="en-US" sz="1050" dirty="0">
                <a:solidFill>
                  <a:srgbClr val="16232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全局 FCFS 失效 → 每盘 256 条队列独立 FIFO；一个批可同时等待多个盘、多条 Path，「总字节 ÷ 总带宽」不再是有效估计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945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6FD6C9"/>
                </a:solidFill>
              </a:rPr>
              <a:t>共享 KV 调度研究 · 形式化分析摘要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38912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DF2F7"/>
                </a:solidFill>
              </a:rPr>
              <a:t>④ 机制设计与可解性：分层协同 S1 · P1 · B1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1274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BACC"/>
                </a:solidFill>
              </a:rPr>
              <a:t>《共享 KV 多 ASU 多 Path 下的组批错峰与带宽协同调度设计》§8–§11 · 表中数字为假设参数的解析算例（非实测）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5541264" cy="1298448"/>
          </a:xfrm>
          <a:prstGeom prst="roundRect">
            <a:avLst>
              <a:gd name="adj" fmla="val 3873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40817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B2D"/>
                </a:solidFill>
              </a:rPr>
              <a:t>现状缺陷 ① B0 余量均分 —— 份额 ∝ 活跃 Path 数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68249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d,p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( 40 − Σ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 / 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　SS 组 1→2 条活跃 Path：20.04 → 26.72 GB/s（LS 同期 19.96 → 13.28）——并发数替代业务优先级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0488" y="1298448"/>
            <a:ext cx="5541264" cy="1298448"/>
          </a:xfrm>
          <a:prstGeom prst="roundRect">
            <a:avLst>
              <a:gd name="adj" fmla="val 3873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140817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B2D"/>
                </a:solidFill>
              </a:rPr>
              <a:t>现状缺陷 ② P0 最短条数 —— 条数 ≠ 剩余工作量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355080" y="168249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候选两条 Path：其一队头剩 4 GB，另一 4 个 I/O 各剩 0.1 GB；新 I/O（0.1 GB @ 1 GB/s）预计等待 </a:t>
            </a:r>
            <a:r>
              <a:rPr lang="en-US" sz="1050" b="1" dirty="0">
                <a:solidFill>
                  <a:srgbClr val="E89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4.1 s vs 0.5 s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—— 按条数选路误判剩余工作量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706624"/>
            <a:ext cx="3630168" cy="2103120"/>
          </a:xfrm>
          <a:prstGeom prst="roundRect">
            <a:avLst>
              <a:gd name="adj" fmla="val 2391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2816352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D6C9"/>
                </a:solidFill>
              </a:rPr>
              <a:t>S1 · 中央调度（§11.7）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21792" y="3108960"/>
            <a:ext cx="330098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盘向量 · 消费窗口 · slack 感知生成候选批（singleton / 同类 / 互补 / 盘互补）</a:t>
            </a:r>
            <a:endParaRPr lang="en-US" sz="1050" dirty="0"/>
          </a:p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多实例联合领取 + 有界等待（唤醒定时器，防无限拖延；等批计入中央等待）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279392" y="2706624"/>
            <a:ext cx="3630168" cy="2103120"/>
          </a:xfrm>
          <a:prstGeom prst="roundRect">
            <a:avLst>
              <a:gd name="adj" fmla="val 2391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43984" y="2816352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D6C9"/>
                </a:solidFill>
              </a:rPr>
              <a:t>P1 · 智能选路（§11.3）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443984" y="310896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E[ 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] = 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( 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ahead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 / 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443984" y="3456432"/>
            <a:ext cx="33009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按预计完成时间而非条数；份额按「自己入队后」的重算值估计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1584" y="2706624"/>
            <a:ext cx="3630168" cy="2103120"/>
          </a:xfrm>
          <a:prstGeom prst="roundRect">
            <a:avLst>
              <a:gd name="adj" fmla="val 2391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66176" y="2816352"/>
            <a:ext cx="3300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D6C9"/>
                </a:solidFill>
              </a:rPr>
              <a:t>B1 · 带宽分配（§11.4）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66176" y="3108960"/>
            <a:ext cx="3300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min( 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dc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, φ·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η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1150" i="1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150" i="1" baseline="-4000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r>
              <a:rPr lang="en-US" sz="1150" dirty="0">
                <a:solidFill>
                  <a:srgbClr val="EDF2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)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266176" y="3456432"/>
            <a:ext cx="33009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组保底 + 按权重水位分余量：权利与 Path 数解耦；同请求多 Path 不重复计权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937760"/>
            <a:ext cx="5541264" cy="1261872"/>
          </a:xfrm>
          <a:prstGeom prst="roundRect">
            <a:avLst>
              <a:gd name="adj" fmla="val 3986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504748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D6C9"/>
                </a:solidFill>
              </a:rPr>
              <a:t>复杂性与三档证书（§9–§10）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1792" y="530352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复杂性继承同一归约链：</a:t>
            </a:r>
            <a:r>
              <a:rPr lang="en-US" sz="1050" b="1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 / SLO 强 NP-hard，TTFT / 归一化 NP-hard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——新增自由度不降低难度。证书三档：E-S 仅调度 → E-SP +选路 → E-SPB +带宽目录（有限空间最优）；LB = max(乐观最早完成，各盘剩余字节/40，计算下界/m)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0488" y="4937760"/>
            <a:ext cx="5541264" cy="1261872"/>
          </a:xfrm>
          <a:prstGeom prst="roundRect">
            <a:avLst>
              <a:gd name="adj" fmla="val 3986"/>
            </a:avLst>
          </a:prstGeom>
          <a:solidFill>
            <a:srgbClr val="18293E"/>
          </a:solidFill>
          <a:ln w="9525">
            <a:solidFill>
              <a:srgbClr val="2B41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5047488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FD6C9"/>
                </a:solidFill>
              </a:rPr>
              <a:t>解析边界算例（§8）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55080" y="530352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DF2F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错峰 B：SS 先领、LS 延 0.025 s → </a:t>
            </a:r>
            <a:r>
              <a:rPr lang="en-US" sz="1050" b="1" dirty="0">
                <a:solidFill>
                  <a:srgbClr val="E89B2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SLO 50%→100% 且 M 不变（0.325 s）</a:t>
            </a:r>
            <a:r>
              <a:rPr lang="en-US" sz="1050" dirty="0">
                <a:solidFill>
                  <a:srgbClr val="A8BAC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；盘向量 (8,0) 至少 0.2 s vs (4,4) 0.1 s——总带宽够 ≠ 可行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6327648"/>
            <a:ext cx="11274552" cy="438912"/>
          </a:xfrm>
          <a:prstGeom prst="roundRect">
            <a:avLst>
              <a:gd name="adj" fmla="val 11458"/>
            </a:avLst>
          </a:prstGeom>
          <a:solidFill>
            <a:srgbClr val="2C2413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6327648"/>
            <a:ext cx="109087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C069"/>
                </a:solidFill>
              </a:rPr>
              <a:t>统一判决：动作价值 = 对所有被波及请求（他批 · 队列 · 写回）的联合重放增量——条数 / 利用率 / STALL 等局部指标不能替代四目标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共享KV调度形式化分析汇总（两 Case）</dc:title>
  <dc:subject>PptxGenJS Presentation</dc:subject>
  <dc:creator>status_aware_network</dc:creator>
  <cp:lastModifiedBy>status_aware_network</cp:lastModifiedBy>
  <cp:revision>1</cp:revision>
  <dcterms:created xsi:type="dcterms:W3CDTF">2026-09-17T07:42:36Z</dcterms:created>
  <dcterms:modified xsi:type="dcterms:W3CDTF">2026-09-17T07:42:36Z</dcterms:modified>
</cp:coreProperties>
</file>